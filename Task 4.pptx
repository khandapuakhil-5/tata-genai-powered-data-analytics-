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4"/>
            <a:ext cx="8368200" cy="9135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 sz="3200" b="1" dirty="0"/>
              <a:t>AI-Powered Collections Strategy</a:t>
            </a:r>
            <a:br>
              <a:rPr lang="en-US" sz="3200" b="1" dirty="0"/>
            </a:b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Leveraging Agentic AI for Scalable, Fair, and Effective Debt Management at </a:t>
            </a:r>
            <a:r>
              <a:rPr lang="en-US" sz="1600" b="1" dirty="0" err="1"/>
              <a:t>Geldium</a:t>
            </a:r>
            <a:endParaRPr lang="en-US" sz="1600" dirty="0"/>
          </a:p>
          <a:p>
            <a:r>
              <a:rPr lang="en-US" sz="1600" dirty="0"/>
              <a:t>Objective: Reduce delinquency through proactive, AI-driven interventions</a:t>
            </a:r>
          </a:p>
          <a:p>
            <a:r>
              <a:rPr lang="en-US" sz="1600" dirty="0"/>
              <a:t>Uses predictive risk scoring from customer data</a:t>
            </a:r>
          </a:p>
          <a:p>
            <a:r>
              <a:rPr lang="en-US" sz="1600" dirty="0"/>
              <a:t>Designed to be transparent, fair, and compliant</a:t>
            </a:r>
          </a:p>
          <a:p>
            <a:r>
              <a:rPr lang="en-US" sz="1600" dirty="0"/>
              <a:t>Supports scalable collections decision-making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4"/>
            <a:ext cx="8368200" cy="9567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 b="1" dirty="0"/>
              <a:t>How the System Works</a:t>
            </a:r>
            <a:br>
              <a:rPr lang="en-US" b="1" dirty="0"/>
            </a:b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End-to-End Workflow</a:t>
            </a:r>
            <a:endParaRPr lang="en-US" dirty="0"/>
          </a:p>
          <a:p>
            <a:r>
              <a:rPr lang="en-US" b="1" dirty="0"/>
              <a:t>Inputs:</a:t>
            </a:r>
            <a:r>
              <a:rPr lang="en-US" dirty="0"/>
              <a:t> Credit utilization, repayment history, income, loan balance</a:t>
            </a:r>
          </a:p>
          <a:p>
            <a:r>
              <a:rPr lang="en-US" b="1" dirty="0"/>
              <a:t>Decision Logic:</a:t>
            </a:r>
            <a:r>
              <a:rPr lang="en-US" dirty="0"/>
              <a:t> AI delinquency risk score combined with business rules</a:t>
            </a:r>
          </a:p>
          <a:p>
            <a:r>
              <a:rPr lang="en-US" b="1" dirty="0"/>
              <a:t>Actions:</a:t>
            </a:r>
            <a:r>
              <a:rPr lang="en-US" dirty="0"/>
              <a:t> Automated reminders, flexible repayment options, escalation triggers</a:t>
            </a:r>
          </a:p>
          <a:p>
            <a:r>
              <a:rPr lang="en-US" b="1" dirty="0"/>
              <a:t>Learning:</a:t>
            </a:r>
            <a:r>
              <a:rPr lang="en-US" dirty="0"/>
              <a:t> Outcomes tracked and fed back to improve model accuracy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IN" dirty="0"/>
              <a:t>Role of Agentic AI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589764-9ADA-441C-D244-74A7CFE54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429848"/>
              </p:ext>
            </p:extLst>
          </p:nvPr>
        </p:nvGraphicFramePr>
        <p:xfrm>
          <a:off x="387350" y="1751162"/>
          <a:ext cx="8369300" cy="1641176"/>
        </p:xfrm>
        <a:graphic>
          <a:graphicData uri="http://schemas.openxmlformats.org/drawingml/2006/table">
            <a:tbl>
              <a:tblPr/>
              <a:tblGrid>
                <a:gridCol w="4184650">
                  <a:extLst>
                    <a:ext uri="{9D8B030D-6E8A-4147-A177-3AD203B41FA5}">
                      <a16:colId xmlns:a16="http://schemas.microsoft.com/office/drawing/2014/main" val="792021007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2950843719"/>
                    </a:ext>
                  </a:extLst>
                </a:gridCol>
              </a:tblGrid>
              <a:tr h="410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Autonomous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Human Oversight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311621"/>
                  </a:ext>
                </a:extLst>
              </a:tr>
              <a:tr h="410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Risk scoring &amp; 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 high-impact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995202"/>
                  </a:ext>
                </a:extLst>
              </a:tr>
              <a:tr h="410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Trigger reminder communications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Approve hardship plans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045109"/>
                  </a:ext>
                </a:extLst>
              </a:tr>
              <a:tr h="410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 repayment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Handle disputes &amp; exceptions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070638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C33C50-BBBC-4912-A87C-828C14EA1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263470"/>
            <a:ext cx="8368200" cy="48769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Autonomous vs Human-in-the-Loop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19B47-5F93-940D-D3C5-BA8EDE57C2F5}"/>
              </a:ext>
            </a:extLst>
          </p:cNvPr>
          <p:cNvSpPr txBox="1"/>
          <p:nvPr/>
        </p:nvSpPr>
        <p:spPr>
          <a:xfrm>
            <a:off x="465826" y="3630043"/>
            <a:ext cx="7341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Principle: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AI drives scale and speed; humans retain judgment and accountability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4"/>
            <a:ext cx="8368200" cy="965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US" sz="3200" b="1" dirty="0"/>
              <a:t>Responsible AI Guardrails</a:t>
            </a:r>
            <a:br>
              <a:rPr lang="en-US" sz="3200" b="1" dirty="0"/>
            </a:br>
            <a:endParaRPr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733909"/>
            <a:ext cx="8368200" cy="20617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Ethical &amp; Regulatory Safeguards</a:t>
            </a:r>
            <a:endParaRPr lang="en-US" sz="1600" dirty="0"/>
          </a:p>
          <a:p>
            <a:r>
              <a:rPr lang="en-US" sz="1600" dirty="0"/>
              <a:t>Fairness checks across income and customer segments</a:t>
            </a:r>
          </a:p>
          <a:p>
            <a:r>
              <a:rPr lang="en-US" sz="1600" dirty="0"/>
              <a:t>Explainable decisions in plain, non-technical language</a:t>
            </a:r>
          </a:p>
          <a:p>
            <a:r>
              <a:rPr lang="en-US" sz="1600" dirty="0"/>
              <a:t>Human override for sensitive or high-risk cases</a:t>
            </a:r>
          </a:p>
          <a:p>
            <a:r>
              <a:rPr lang="en-US" sz="1600" dirty="0"/>
              <a:t>Compliance with financial and data protection regulations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00" y="458024"/>
            <a:ext cx="8368200" cy="96533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Expected Business Impact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Business &amp; Customer Outcomes</a:t>
            </a:r>
            <a:endParaRPr lang="en-US" dirty="0"/>
          </a:p>
          <a:p>
            <a:r>
              <a:rPr lang="en-US" b="1" dirty="0"/>
              <a:t>Business KPIs</a:t>
            </a:r>
            <a:endParaRPr lang="en-US" dirty="0"/>
          </a:p>
          <a:p>
            <a:r>
              <a:rPr lang="en-US" dirty="0"/>
              <a:t>10–15% reduction in delinquency rates</a:t>
            </a:r>
          </a:p>
          <a:p>
            <a:r>
              <a:rPr lang="en-US" dirty="0"/>
              <a:t>Lower collections operating costs</a:t>
            </a:r>
          </a:p>
          <a:p>
            <a:r>
              <a:rPr lang="en-US" dirty="0"/>
              <a:t>Faster, consistent decision-making</a:t>
            </a:r>
          </a:p>
          <a:p>
            <a:r>
              <a:rPr lang="en-US" b="1" dirty="0"/>
              <a:t>Customer Outcomes</a:t>
            </a:r>
            <a:endParaRPr lang="en-US" dirty="0"/>
          </a:p>
          <a:p>
            <a:r>
              <a:rPr lang="en-US" dirty="0"/>
              <a:t>Earlier support before severe delinquency</a:t>
            </a:r>
          </a:p>
          <a:p>
            <a:r>
              <a:rPr lang="en-US" dirty="0"/>
              <a:t>Fair and transparent treatment</a:t>
            </a:r>
          </a:p>
          <a:p>
            <a:r>
              <a:rPr lang="en-US" dirty="0"/>
              <a:t>Improved trust and experience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458</Words>
  <Application>Microsoft Office PowerPoint</Application>
  <PresentationFormat>On-screen Show (16:9)</PresentationFormat>
  <Paragraphs>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</vt:lpstr>
      <vt:lpstr>Roboto Slab</vt:lpstr>
      <vt:lpstr>Marina</vt:lpstr>
      <vt:lpstr>AI-Powered Collections Strategy</vt:lpstr>
      <vt:lpstr>AI-Powered Collections Strategy </vt:lpstr>
      <vt:lpstr>How the System Works </vt:lpstr>
      <vt:lpstr>Role of Agentic AI</vt:lpstr>
      <vt:lpstr>Responsible AI Guardrails </vt:lpstr>
      <vt:lpstr>Expected Business Impact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AKHIL KHANDAPU</cp:lastModifiedBy>
  <cp:revision>3</cp:revision>
  <dcterms:modified xsi:type="dcterms:W3CDTF">2025-12-17T08:27:01Z</dcterms:modified>
</cp:coreProperties>
</file>